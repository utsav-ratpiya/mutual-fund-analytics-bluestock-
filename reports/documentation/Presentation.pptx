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01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·  DATA ANALYST CAPSTONE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Pipeline, Risk Analytics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Interactive Business Intelligence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Ratpiya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ML), Adani University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|  Offer ID: BFDA60407
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20 Jun – 20 Aug 2026 (Remote)  |  Report Date: 10 Jul 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github.com/Utsav-Ratpiya/Mutual-Fund-Analytics-Bluestock-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Full-Stack Analytics Platform, Built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Yrs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468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(2022–2026)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scope: </a:t>
            </a: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AMFI / mfapi.in / NSE-BSE data ingested through a reproducible Python ETL pipeline, warehoused in a 7-table SQLite star schema, analysed through CAGR / Sharpe / Sortino / Alpha / Beta / VaR-CVaR risk metrics, and delivered via a 4-page Power BI dashboard.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51713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61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core deliverables (D1–D7) completed and self-assessed against the rubric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02005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646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bonus modules completed in full: Monte Carlo Simulation &amp; Markowitz Portfolio Optimization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52297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675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real AMFI figures — ₹81L Cr industry AUM, ₹31,002 Cr monthly SIP, 26.12 Cr folios (Dec 2025)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Problems, Eight Delivered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90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49047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NAV/AUM/SIP data scattered across formats → unified into one SQLite warehouse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95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27685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Risk-Adjusted Comparison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7685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can't compare funds on Sharpe/Alpha/Beta → all computed &amp; ranked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81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don't know if a fund beats its index → tracking error computed per scheme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67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496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Blind Spot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84962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 lack visibility into demographics/geography → cohort &amp; SIP-continuity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54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Static Reporting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63600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PDF reports take days → self-service, refreshable Power BI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Five-Layer Architecture: Extract → Transform → Load → Analyse → Visualise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64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AMFI, mfapi.in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NSE/BSE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06040" y="2103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62072" y="1600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2C3A80"/>
          </a:solidFill>
          <a:ln/>
        </p:spPr>
      </p:sp>
      <p:sp>
        <p:nvSpPr>
          <p:cNvPr id="9" name="Text 7"/>
          <p:cNvSpPr/>
          <p:nvPr/>
        </p:nvSpPr>
        <p:spPr>
          <a:xfrm>
            <a:off x="2862072" y="1764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62072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ffill,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28032" y="2103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1764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4064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(7 tables)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0024" y="2103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06056" y="1600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2C3A80"/>
          </a:solidFill>
          <a:ln/>
        </p:spPr>
      </p:sp>
      <p:sp>
        <p:nvSpPr>
          <p:cNvPr id="17" name="Text 15"/>
          <p:cNvSpPr/>
          <p:nvPr/>
        </p:nvSpPr>
        <p:spPr>
          <a:xfrm>
            <a:off x="7306056" y="1764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06056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Jupyter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72016" y="21031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28048" y="160020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528048" y="17647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8048" y="22860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197096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Pandas  ·  NumPy  ·  SciPy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617720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443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Plotly for visualisation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03834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8646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+ SQLAlchemy for the data warehouse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5458968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2852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for the interactive dashboard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879592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7058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 · Git/GitHub for notebooks &amp; versioning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0936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Star-Schema Fact &amp; Dimension Tables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114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 </a:t>
            </a: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 — scheme master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4535424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5354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 </a:t>
            </a: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rows — calendar dim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4956048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956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  </a:t>
            </a: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 — daily NAV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5376672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5376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  </a:t>
            </a: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 — investor txns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5797296"/>
            <a:ext cx="5212080" cy="365760"/>
          </a:xfrm>
          <a:prstGeom prst="roundRect">
            <a:avLst>
              <a:gd name="adj" fmla="val 15000"/>
            </a:avLst>
          </a:prstGeom>
          <a:solidFill>
            <a:srgbClr val="F5F7FC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57972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 / fact_aum  </a:t>
            </a: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90 rows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Pipeline: Reproducible, Error-Handled, Logged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data_ingestion.py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15544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raw CSVs from AMFI-style sources; profiles shape/nulls/dupes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45973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597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4086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data_cleaning.py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234086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Reindexes NAV to full business-day calendar, ffill() across weekends/holidays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4612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46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272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validate_amfi_code.py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06240" y="312724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AMFI codes &amp; data integrity before 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03250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325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1363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database_loader.py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06240" y="391363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processed data into SQLite; logs every step to logs/etl_pipeline.log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8188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818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70001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etl_pipeline.py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06240" y="4700016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workflow end-to-end — zero manual steps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standard: </a:t>
            </a:r>
            <a:r>
              <a:rPr lang="en-US" sz="12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paths (pathlib throughout) · CAGR annualised on 252 trading days · every stage wrapped in try/except with full logging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Growth: AUM &amp; SIP Inflows, 2022–2025</a:t>
            </a:r>
            <a:endParaRPr lang="en-US" sz="3000" dirty="0"/>
          </a:p>
        </p:txBody>
      </p:sp>
      <p:pic>
        <p:nvPicPr>
          <p:cNvPr id="4" name="Image 0" descr="assets/aum_grow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792" y="1508760"/>
            <a:ext cx="5776248" cy="4480560"/>
          </a:xfrm>
          <a:prstGeom prst="rect">
            <a:avLst/>
          </a:prstGeom>
        </p:spPr>
      </p:pic>
      <p:pic>
        <p:nvPicPr>
          <p:cNvPr id="5" name="Image 1" descr="assets/sip_tren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808" y="1508760"/>
            <a:ext cx="548640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AUM at ₹12.5L Cr — ₹1.76L Cr ahead of ICICI Prudential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21792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hit an all-time high of ₹31,002 Cr in December 2025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Investing? Demographics &amp; Geography</a:t>
            </a:r>
            <a:endParaRPr lang="en-US" sz="3000" dirty="0"/>
          </a:p>
        </p:txBody>
      </p:sp>
      <p:pic>
        <p:nvPicPr>
          <p:cNvPr id="4" name="Image 0" descr="assets/age_group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298448"/>
            <a:ext cx="5212080" cy="4782312"/>
          </a:xfrm>
          <a:prstGeom prst="rect">
            <a:avLst/>
          </a:prstGeom>
        </p:spPr>
      </p:pic>
      <p:pic>
        <p:nvPicPr>
          <p:cNvPr id="5" name="Image 1" descr="assets/t30_b30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35040" y="1298448"/>
            <a:ext cx="5212080" cy="47823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26–45 age band is the largest investor cohort (41.1%) by count and SIP contribution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035040" y="6080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66.3% of SIP value; B30 is a meaningful, growing 33.7%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Table Star Schema</a:t>
            </a:r>
            <a:endParaRPr lang="en-US" sz="3000" dirty="0"/>
          </a:p>
        </p:txBody>
      </p:sp>
      <p:pic>
        <p:nvPicPr>
          <p:cNvPr id="4" name="Image 0" descr="assets/star_schem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768096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58200" y="18288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&amp; dim_date sit at the centre; fact_nav, fact_transactions, fact_performance, fact_aum radiate out — chosen over OLTP normalisation because analytical queries aggregate far faster against wide fact tables.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5820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5820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verify_database.py cross-checks every table's row count in bluestock_mf.db against its source CSV to confirm a lossless load.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582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Analytical Queries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58200" y="5074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ranking, SIP YoY growth, low-cost funds, top 5-year performers, category-wise expense ratios and more — version-controlled in sql/queries.sql.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 Trend, Rolling Risk &amp; Return Correlation</a:t>
            </a:r>
            <a:endParaRPr lang="en-US" sz="3000" dirty="0"/>
          </a:p>
        </p:txBody>
      </p:sp>
      <p:pic>
        <p:nvPicPr>
          <p:cNvPr id="4" name="Image 0" descr="assets/nav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25880"/>
            <a:ext cx="5486400" cy="3063240"/>
          </a:xfrm>
          <a:prstGeom prst="rect">
            <a:avLst/>
          </a:prstGeom>
        </p:spPr>
      </p:pic>
      <p:pic>
        <p:nvPicPr>
          <p:cNvPr id="5" name="Image 1" descr="assets/nav_return_correl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298448"/>
            <a:ext cx="5486400" cy="3063240"/>
          </a:xfrm>
          <a:prstGeom prst="rect">
            <a:avLst/>
          </a:prstGeom>
        </p:spPr>
      </p:pic>
      <p:pic>
        <p:nvPicPr>
          <p:cNvPr id="6" name="Image 2" descr="assets/rolling_sharpe_char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4477109"/>
            <a:ext cx="5486400" cy="1832251"/>
          </a:xfrm>
          <a:prstGeom prst="rect">
            <a:avLst/>
          </a:prstGeom>
        </p:spPr>
      </p:pic>
      <p:pic>
        <p:nvPicPr>
          <p:cNvPr id="7" name="Image 3" descr="assets/benchmark_comparis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17920" y="4477109"/>
            <a:ext cx="5486400" cy="183225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Fund Scorecard: Blending Return, Risk &amp; Cost</a:t>
            </a:r>
            <a:endParaRPr lang="en-US" sz="3000" dirty="0"/>
          </a:p>
        </p:txBody>
      </p:sp>
      <p:pic>
        <p:nvPicPr>
          <p:cNvPr id="4" name="Image 0" descr="assets/fund_scorec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69494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(NAV_end/NAV_start)^(1/n) − 1, annualised on 252 trading days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0" y="21305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 − Rf) / σp × √252, Rf = 6.5% RBI repo proxy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0" y="27523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numerator, downside-only volatility denominator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0" y="33741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/ Beta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of fund returns on Nifty 100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3995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min(NAV / running_max(NAV) − 1)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0" y="4617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 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return + 25% Sharpe + 20% Alpha + 15% cost + 10% drawdown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0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Mirae Asset Large Cap Fund — Score 100/100, Sharpe 1.45, 3Y CAGR ~34%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Returns &amp; Drawdown by Fund</a:t>
            </a:r>
            <a:endParaRPr lang="en-US" sz="3000" dirty="0"/>
          </a:p>
        </p:txBody>
      </p:sp>
      <p:pic>
        <p:nvPicPr>
          <p:cNvPr id="4" name="Image 0" descr="assets/sharpe_rat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486400" cy="4480560"/>
          </a:xfrm>
          <a:prstGeom prst="rect">
            <a:avLst/>
          </a:prstGeom>
        </p:spPr>
      </p:pic>
      <p:pic>
        <p:nvPicPr>
          <p:cNvPr id="5" name="Image 1" descr="assets/max_drawdow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508760"/>
            <a:ext cx="548640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leads both Sharpe (1.45) and Sortino (2.39) ratios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21792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Liquid/Gilt funds show shallowest drawdown; Small/Mid-Cap exceed -25%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 Interactive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pic>
        <p:nvPicPr>
          <p:cNvPr id="5" name="Image 0" descr="assets/Industry 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39496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758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pic>
        <p:nvPicPr>
          <p:cNvPr id="8" name="Image 1" descr="assets/Fund Performan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508760"/>
            <a:ext cx="5394960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36758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420624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pic>
        <p:nvPicPr>
          <p:cNvPr id="11" name="Image 2" descr="assets/Investor Analytic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4251960"/>
            <a:ext cx="5394960" cy="2148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64190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4206240"/>
            <a:ext cx="54864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pic>
        <p:nvPicPr>
          <p:cNvPr id="14" name="Image 3" descr="assets/SIP &amp; Market Tren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63640" y="4251960"/>
            <a:ext cx="5394960" cy="2148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64190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Risk, Investor Cohorts &amp; Sector Concentration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VaR / CVaR (95%) — Highest Tail Risk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16459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CVaR 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–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Small Cap –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Small Cap – 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Small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assets/sector_hhi_concentr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3794760"/>
            <a:ext cx="548640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Cohort Analysis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309360" y="1828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cohort</a:t>
            </a: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SIP ticket ₹13,505 — 23% higher than the 2024 cohort (₹10,997); both gravitate toward mid/small-cap growth funds.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309360" y="2743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Continuity — At-Risk Flagging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09360" y="3108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with 6+ SIPs and &gt;35-day average gap flagged “At Risk” — an actionable retention list for Bluestock's CRM team.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09360" y="3794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Concentration (HHI)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09360" y="41605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Fund carries the highest sector HHI (0.297) — most concentrated portfolio in the equity universe; useful diversification signal.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09360" y="51206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recommender (recommender.py) maps risk appetite → risk_grade → top-3 funds sorted by Sharpe, fully auditable.</a:t>
            </a:r>
            <a:endParaRPr lang="en-US" sz="1150" dirty="0"/>
          </a:p>
        </p:txBody>
      </p:sp>
      <p:sp>
        <p:nvSpPr>
          <p:cNvPr id="5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MODULE 1  ·  B3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Simulation — 5-Year NAV Forecast</a:t>
            </a:r>
            <a:endParaRPr lang="en-US" sz="3000" dirty="0"/>
          </a:p>
        </p:txBody>
      </p:sp>
      <p:pic>
        <p:nvPicPr>
          <p:cNvPr id="4" name="Image 0" descr="assets/monte_carl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69494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002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6733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₹149.32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92640" y="16733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NAV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2624328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2697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₹466.53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92640" y="2697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Ending NAV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3648456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09560" y="37216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25.59%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92640" y="37216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CAGR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0" y="4672584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09560" y="474573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92640" y="474573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Growth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0" y="5715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Geometric Brownian Motion calibrated to historical drift/volatility; 1,000 simulated 5-year (1,260-trading-day) paths for SBI Bluechip Fund.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MODULE 2  ·  B4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Markowitz Efficient Frontier — Optimal Portfolio</a:t>
            </a:r>
            <a:endParaRPr lang="en-US" sz="3000" dirty="0"/>
          </a:p>
        </p:txBody>
      </p:sp>
      <p:pic>
        <p:nvPicPr>
          <p:cNvPr id="4" name="Image 0" descr="assets/efficient_front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676656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Maximum-Sharpe Portfolio Allocation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895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Bluechip Fund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921240" y="203911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4E9F5"/>
          </a:solidFill>
          <a:ln/>
        </p:spPr>
      </p:sp>
      <p:sp>
        <p:nvSpPr>
          <p:cNvPr id="8" name="Shape 5"/>
          <p:cNvSpPr/>
          <p:nvPr/>
        </p:nvSpPr>
        <p:spPr>
          <a:xfrm>
            <a:off x="9921240" y="2039112"/>
            <a:ext cx="1460114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Bluechip Fund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921240" y="249631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4E9F5"/>
          </a:solidFill>
          <a:ln/>
        </p:spPr>
      </p:sp>
      <p:sp>
        <p:nvSpPr>
          <p:cNvPr id="12" name="Shape 9"/>
          <p:cNvSpPr/>
          <p:nvPr/>
        </p:nvSpPr>
        <p:spPr>
          <a:xfrm>
            <a:off x="9921240" y="2496312"/>
            <a:ext cx="822228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0" y="2423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8952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Bluechip Fund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921240" y="295351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4E9F5"/>
          </a:solidFill>
          <a:ln/>
        </p:spPr>
      </p:sp>
      <p:sp>
        <p:nvSpPr>
          <p:cNvPr id="16" name="Shape 13"/>
          <p:cNvSpPr/>
          <p:nvPr/>
        </p:nvSpPr>
        <p:spPr>
          <a:xfrm>
            <a:off x="9921240" y="2953512"/>
            <a:ext cx="567660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0" y="2880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895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Fund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921240" y="341071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4E9F5"/>
          </a:solidFill>
          <a:ln/>
        </p:spPr>
      </p:sp>
      <p:sp>
        <p:nvSpPr>
          <p:cNvPr id="20" name="Shape 17"/>
          <p:cNvSpPr/>
          <p:nvPr/>
        </p:nvSpPr>
        <p:spPr>
          <a:xfrm>
            <a:off x="9921240" y="3410712"/>
            <a:ext cx="73152" cy="20116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0" y="3337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8952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Top 100 Fund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21240" y="3867912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E4E9F5"/>
          </a:solidFill>
          <a:ln/>
        </p:spPr>
      </p:sp>
      <p:sp>
        <p:nvSpPr>
          <p:cNvPr id="24" name="Shape 21"/>
          <p:cNvSpPr/>
          <p:nvPr/>
        </p:nvSpPr>
        <p:spPr>
          <a:xfrm>
            <a:off x="9921240" y="3867912"/>
            <a:ext cx="73152" cy="20116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0" y="3794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589520" y="44805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optimizer weights toward SBI Bluechip for its strong scorecard/Sharpe showing, with ICICI Pru and Kotak Bluechip adding diversification benefit via lower correlation.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for Bluestock Fintech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all-round fund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— Score 100/100, Sharpe 1.45, Sortino 2.39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22585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AUM ₹12.5L Cr, ₹1.76L Cr ahead of ICICI Prudential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1892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momentum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2585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 all-time-high monthly inflow, Dec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concentration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858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funds top both VaR and CVaR rankings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1089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sleeve validated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26280" y="3858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Liquid/Gilt funds show shallowest drawdown (-9.8%) &amp; lowest tracking error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1089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investing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6760" y="38587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of transaction value is SIP vs 24.6% Lumpsum, 15.2% Redemption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093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Broad-based geography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54589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Punjab, Tamil Nadu, MP lead, but top-10 states are evenly spread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47091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26280" y="5093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opportunity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26280" y="54589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SIP investors (35+ day gaps) flagged for CRM re-engagement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47091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66760" y="5093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366760" y="54589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Markowitz-optimal 5-fund mix ~50% SBI Bluechip + diversifiers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04088"/>
            <a:ext cx="11064240" cy="1673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30000"/>
              </a:lnSpc>
            </a:pPr>
            <a:r>
              <a:rPr lang="en-IN" sz="1350" dirty="0">
                <a:solidFill>
                  <a:srgbClr val="CADCFC"/>
                </a:solidFill>
              </a:rPr>
              <a:t>This project delivered a complete, production-style mutual fund analytics platform — from a reproducible ETL pipeline and star-schema data warehouse to risk-adjusted performance analytics and an interactive Power BI dashboard. All 7 core deliverables and 2 bonus modules (Monte Carlo Simulation, Markowitz Optimization) were completed, turning raw AMFI data into decision-ready insights for fund selection, risk management, and investor engagement.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0906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44368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ETL: weekday cron job auto-fetching live NAV at 8 PM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930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6704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app as a no-licence Power BI alternative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9534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49040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HTML weekly performance-summary emails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51376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fund recommender (expense ratio, horizon, existing holdings)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70001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53712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tracking with real-time XIRR &amp; benchmark comparison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51023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56048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migration: managed PostgreSQL + hosted dashboard/app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Ratpiya  |  Data Analyst Intern, Bluestock Fintech  |  github.com/Utsav-Ratpiya/Mutual-Fund-Analytics-Bluestock-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1722</Words>
  <Application>Microsoft Office PowerPoint</Application>
  <PresentationFormat>Widescreen</PresentationFormat>
  <Paragraphs>269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Utsav Ratpiya</cp:lastModifiedBy>
  <cp:revision>5</cp:revision>
  <dcterms:created xsi:type="dcterms:W3CDTF">2026-07-10T10:54:16Z</dcterms:created>
  <dcterms:modified xsi:type="dcterms:W3CDTF">2026-07-10T11:15:46Z</dcterms:modified>
</cp:coreProperties>
</file>